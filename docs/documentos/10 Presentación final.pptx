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C.I.S.P.P.H.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Control de Ingreso y Salida para Parqueaderos de Propiedad Horizontal</a:t>
            </a:r>
          </a:p>
          <a:p>
            <a:pPr>
              <a:spcAft>
                <a:spcPts val="1000"/>
              </a:spcAft>
              <a:defRPr sz="2200"/>
            </a:pPr>
            <a:r>
              <a:t>• Diseño de Software I · ETITC</a:t>
            </a:r>
          </a:p>
          <a:p>
            <a:pPr>
              <a:spcAft>
                <a:spcPts val="1000"/>
              </a:spcAft>
              <a:defRPr sz="2200"/>
            </a:pPr>
            <a:r>
              <a:t>• Luis David Caicedo · Edisson David Vargas · Javier Santiago Pérez</a:t>
            </a:r>
          </a:p>
          <a:p>
            <a:pPr>
              <a:spcAft>
                <a:spcPts val="1000"/>
              </a:spcAft>
              <a:defRPr sz="2200"/>
            </a:pPr>
            <a:r>
              <a:t>• Docente: José Del Carmen Ortega Castro</a:t>
            </a:r>
          </a:p>
          <a:p>
            <a:pPr>
              <a:spcAft>
                <a:spcPts val="1000"/>
              </a:spcAft>
              <a:defRPr sz="2200"/>
            </a:pPr>
            <a:r>
              <a:t>• Entrega final · Noviembre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 (hipótesis del caso)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Registro manual de ingresos y salidas</a:t>
            </a:r>
          </a:p>
          <a:p>
            <a:pPr>
              <a:spcAft>
                <a:spcPts val="1000"/>
              </a:spcAft>
              <a:defRPr sz="2200"/>
            </a:pPr>
            <a:r>
              <a:t>• Demoras en horas pico y errores al anotar placas</a:t>
            </a:r>
          </a:p>
          <a:p>
            <a:pPr>
              <a:spcAft>
                <a:spcPts val="1000"/>
              </a:spcAft>
              <a:defRPr sz="2200"/>
            </a:pPr>
            <a:r>
              <a:t>• Poca trazabilidad de la información histórica</a:t>
            </a:r>
          </a:p>
          <a:p>
            <a:pPr>
              <a:spcAft>
                <a:spcPts val="1000"/>
              </a:spcAft>
              <a:defRPr sz="2200"/>
            </a:pPr>
            <a:r>
              <a:t>• Control de visitantes y de cupos poco claro</a:t>
            </a:r>
          </a:p>
          <a:p>
            <a:pPr>
              <a:spcAft>
                <a:spcPts val="1000"/>
              </a:spcAft>
              <a:defRPr sz="2200"/>
            </a:pPr>
            <a:r>
              <a:t>• Las necesidades N-01 a N-07 son hipótesis; no hay levantamiento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Solución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Aplicación para la garita y la administración</a:t>
            </a:r>
          </a:p>
          <a:p>
            <a:pPr>
              <a:spcAft>
                <a:spcPts val="1000"/>
              </a:spcAft>
              <a:defRPr sz="2200"/>
            </a:pPr>
            <a:r>
              <a:t>• Reglas por categoría: No VIP, VIS y VIP (definición de trabajo)</a:t>
            </a:r>
          </a:p>
          <a:p>
            <a:pPr>
              <a:spcAft>
                <a:spcPts val="1000"/>
              </a:spcAft>
              <a:defRPr sz="2200"/>
            </a:pPr>
            <a:r>
              <a:t>• Cupo de visitantes como bien común (Ley 675 de 2001)</a:t>
            </a:r>
          </a:p>
          <a:p>
            <a:pPr>
              <a:spcAft>
                <a:spcPts val="1000"/>
              </a:spcAft>
              <a:defRPr sz="2200"/>
            </a:pPr>
            <a:r>
              <a:t>• Registro con usuario y fecha-hora de cada movimiento</a:t>
            </a:r>
          </a:p>
          <a:p>
            <a:pPr>
              <a:spcAft>
                <a:spcPts val="1000"/>
              </a:spcAft>
              <a:defRPr sz="2200"/>
            </a:pPr>
            <a:r>
              <a:t>• Simulador 3D y prototipo con Arduino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Requisitos y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10 requisitos funcionales y 7 no funcionales</a:t>
            </a:r>
          </a:p>
          <a:p>
            <a:pPr>
              <a:spcAft>
                <a:spcPts val="1000"/>
              </a:spcAft>
              <a:defRPr sz="2200"/>
            </a:pPr>
            <a:r>
              <a:t>• 10 historias de usuario · 37 puntos propuestos</a:t>
            </a:r>
          </a:p>
          <a:p>
            <a:pPr>
              <a:spcAft>
                <a:spcPts val="1000"/>
              </a:spcAft>
              <a:defRPr sz="2200"/>
            </a:pPr>
            <a:r>
              <a:t>• 4 sprints semanales (26/10 – 21/11/2026)</a:t>
            </a:r>
          </a:p>
          <a:p>
            <a:pPr>
              <a:spcAft>
                <a:spcPts val="1000"/>
              </a:spcAft>
              <a:defRPr sz="2200"/>
            </a:pPr>
            <a:r>
              <a:t>• Trazabilidad necesidad → requisito → historia → caso de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Guarda: ingreso, salida, disponibilidad</a:t>
            </a:r>
          </a:p>
          <a:p>
            <a:pPr>
              <a:spcAft>
                <a:spcPts val="1000"/>
              </a:spcAft>
              <a:defRPr sz="2200"/>
            </a:pPr>
            <a:r>
              <a:t>• Administrador: vehículos, visitas, historial, asignación, reportes</a:t>
            </a:r>
          </a:p>
          <a:p>
            <a:pPr>
              <a:spcAft>
                <a:spcPts val="1000"/>
              </a:spcAft>
              <a:defRPr sz="2200"/>
            </a:pPr>
            <a:r>
              <a:t>• Inicio y cierre de sesión por rol</a:t>
            </a:r>
          </a:p>
        </p:txBody>
      </p:sp>
      <p:pic>
        <p:nvPicPr>
          <p:cNvPr id="5" name="Picture 4" descr="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34539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Usuario, vehículo, puesto, autorización y movimiento</a:t>
            </a:r>
          </a:p>
          <a:p>
            <a:pPr>
              <a:spcAft>
                <a:spcPts val="1000"/>
              </a:spcAft>
              <a:defRPr sz="2200"/>
            </a:pPr>
            <a:r>
              <a:t>• Reglas de integridad: placa y cédula únicas</a:t>
            </a:r>
          </a:p>
          <a:p>
            <a:pPr>
              <a:spcAft>
                <a:spcPts val="1000"/>
              </a:spcAft>
              <a:defRPr sz="2200"/>
            </a:pPr>
            <a:r>
              <a:t>• Datos personales mínimos (Ley 1581 de 2012)</a:t>
            </a:r>
          </a:p>
        </p:txBody>
      </p:sp>
      <p:pic>
        <p:nvPicPr>
          <p:cNvPr id="5" name="Picture 4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41337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Cámaras y lector → computador principal → Arduino</a:t>
            </a:r>
          </a:p>
          <a:p>
            <a:pPr>
              <a:spcAft>
                <a:spcPts val="1000"/>
              </a:spcAft>
              <a:defRPr sz="2200"/>
            </a:pPr>
            <a:r>
              <a:t>• El computador reconoce, aplica reglas y guarda el historial</a:t>
            </a:r>
          </a:p>
          <a:p>
            <a:pPr>
              <a:spcAft>
                <a:spcPts val="1000"/>
              </a:spcAft>
              <a:defRPr sz="2200"/>
            </a:pPr>
            <a:r>
              <a:t>• El Arduino sube la pluma, pita y muestra un mensaje</a:t>
            </a:r>
          </a:p>
          <a:p>
            <a:pPr>
              <a:spcAft>
                <a:spcPts val="1000"/>
              </a:spcAft>
              <a:defRPr sz="2200"/>
            </a:pPr>
            <a:r>
              <a:t>• Todo conectado a una UPS por si falla la luz</a:t>
            </a:r>
          </a:p>
          <a:p>
            <a:pPr>
              <a:spcAft>
                <a:spcPts val="1000"/>
              </a:spcAft>
              <a:defRPr sz="2200"/>
            </a:pPr>
            <a:r>
              <a:t>• Autonomía: horas ≈ (Wh × eficiencia) ÷ consumo en W; la meta de 24 h no está comprobada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Tres piezas, una misma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Simulador 3D (Godot): 40 puestos, casos de robo, apagón; reglas con 0 fallos</a:t>
            </a:r>
          </a:p>
          <a:p>
            <a:pPr>
              <a:spcAft>
                <a:spcPts val="1000"/>
              </a:spcAft>
              <a:defRPr sz="2200"/>
            </a:pPr>
            <a:r>
              <a:t>• Sistema Python: cámara, rostros y SQLite; 37 pruebas de reglas y puente, 0 fallos; ventana y cámara sin probar</a:t>
            </a:r>
          </a:p>
          <a:p>
            <a:pPr>
              <a:spcAft>
                <a:spcPts val="1000"/>
              </a:spcAft>
              <a:defRPr sz="2200"/>
            </a:pPr>
            <a:r>
              <a:t>• Prototipo Arduino: 23 pruebas de reglas, 0 fallos; sin probar en hardware</a:t>
            </a:r>
          </a:p>
          <a:p>
            <a:pPr>
              <a:spcAft>
                <a:spcPts val="1000"/>
              </a:spcAft>
              <a:defRPr sz="2200"/>
            </a:pPr>
            <a:r>
              <a:t>• Código y README en GitHub: SrMrLDavid/cispph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Reglas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Placa, rostro, vehículo, turno y autorización se revisan siempre en el mismo orden</a:t>
            </a:r>
          </a:p>
          <a:p>
            <a:pPr>
              <a:spcAft>
                <a:spcPts val="1000"/>
              </a:spcAft>
              <a:defRPr sz="2200"/>
            </a:pPr>
            <a:r>
              <a:t>• Respuestas: Autorizado, Revisar (decide el guarda) o Denegado</a:t>
            </a:r>
          </a:p>
          <a:p>
            <a:pPr>
              <a:spcAft>
                <a:spcPts val="1000"/>
              </a:spcAft>
              <a:defRPr sz="2200"/>
            </a:pPr>
            <a:r>
              <a:t>• Cupo de visitantes compartido; sin doble entrada ni doble salida</a:t>
            </a:r>
          </a:p>
          <a:p>
            <a:pPr>
              <a:spcAft>
                <a:spcPts val="1000"/>
              </a:spcAft>
              <a:defRPr sz="2200"/>
            </a:pPr>
            <a:r>
              <a:t>• Tres intentos fallidos bloquean el acceso un momento</a:t>
            </a:r>
          </a:p>
          <a:p>
            <a:pPr>
              <a:spcAft>
                <a:spcPts val="1000"/>
              </a:spcAft>
              <a:defRPr sz="2200"/>
            </a:pPr>
            <a:r>
              <a:t>• Toda decisión queda registrada, también las denegadas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Página web y simulador ligero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Quiénes somos, cómo funciona, documentos, parte técnica y GitHub</a:t>
            </a:r>
          </a:p>
          <a:p>
            <a:pPr>
              <a:spcAft>
                <a:spcPts val="1000"/>
              </a:spcAft>
              <a:defRPr sz="2200"/>
            </a:pPr>
            <a:r>
              <a:t>• Versión 2D del simulador con las mismas reglas</a:t>
            </a:r>
          </a:p>
          <a:p>
            <a:pPr>
              <a:spcAft>
                <a:spcPts val="1000"/>
              </a:spcAft>
              <a:defRPr sz="2200"/>
            </a:pPr>
            <a:r>
              <a:t>• Probada con un guion automático de 40 casos</a:t>
            </a:r>
          </a:p>
          <a:p>
            <a:pPr>
              <a:spcAft>
                <a:spcPts val="1000"/>
              </a:spcAft>
              <a:defRPr sz="2200"/>
            </a:pPr>
            <a:r>
              <a:t>• Archivo web/index.html en el repositorio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Estado y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Documentos v2.0 en APA 7, pendientes de validación</a:t>
            </a:r>
          </a:p>
          <a:p>
            <a:pPr>
              <a:spcAft>
                <a:spcPts val="1000"/>
              </a:spcAft>
              <a:defRPr sz="2200"/>
            </a:pPr>
            <a:r>
              <a:t>• Pruebas con personas y medición de tiempos: no realizadas</a:t>
            </a:r>
          </a:p>
          <a:p>
            <a:pPr>
              <a:spcAft>
                <a:spcPts val="1000"/>
              </a:spcAft>
              <a:defRPr sz="2200"/>
            </a:pPr>
            <a:r>
              <a:t>• Hardware: sin probar</a:t>
            </a:r>
          </a:p>
          <a:p>
            <a:pPr>
              <a:spcAft>
                <a:spcPts val="1000"/>
              </a:spcAft>
              <a:defRPr sz="2200"/>
            </a:pPr>
            <a:r>
              <a:t>• Definir con el docente la distribución de tareas restantes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